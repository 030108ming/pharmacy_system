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Write Throughput (req/s)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gRPC Microservice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194.08</c:v>
                </c:pt>
                <c:pt idx="1">
                  <c:v>577.41</c:v>
                </c:pt>
                <c:pt idx="2">
                  <c:v>775.94</c:v>
                </c:pt>
                <c:pt idx="3">
                  <c:v>937.05</c:v>
                </c:pt>
                <c:pt idx="4">
                  <c:v>1010.9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61-044A-8617-8EDCBC4059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Monolith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101.1</c:v>
                </c:pt>
                <c:pt idx="1">
                  <c:v>423.8</c:v>
                </c:pt>
                <c:pt idx="2">
                  <c:v>467.4</c:v>
                </c:pt>
                <c:pt idx="3">
                  <c:v>532.32000000000005</c:v>
                </c:pt>
                <c:pt idx="4">
                  <c:v>618.19000000000005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61-044A-8617-8EDCBC4059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Read Latency (ms) — Lower is Better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gRPC Microservice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41.04</c:v>
                </c:pt>
                <c:pt idx="1">
                  <c:v>94.01</c:v>
                </c:pt>
                <c:pt idx="2">
                  <c:v>153.26</c:v>
                </c:pt>
                <c:pt idx="3">
                  <c:v>471.59</c:v>
                </c:pt>
                <c:pt idx="4">
                  <c:v>1023.71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9AD-4346-9958-9C9A8A6C3B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Monolith</c:v>
                </c:pt>
              </c:strCache>
            </c:strRef>
          </c:tx>
          <c:spPr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79.59</c:v>
                </c:pt>
                <c:pt idx="1">
                  <c:v>343.61</c:v>
                </c:pt>
                <c:pt idx="2">
                  <c:v>606.35</c:v>
                </c:pt>
                <c:pt idx="3">
                  <c:v>2834.18</c:v>
                </c:pt>
                <c:pt idx="4">
                  <c:v>5150.04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9AD-4346-9958-9C9A8A6C3B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57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</a:rPr>
              <a:t>CSE-5306 PROJECT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Pharmacy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Microservice Architecture vs REST Monolith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February 2026  |  Distributed Systems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EEE6B-7D70-146A-6469-524BD220D760}"/>
              </a:ext>
            </a:extLst>
          </p:cNvPr>
          <p:cNvSpPr txBox="1"/>
          <p:nvPr/>
        </p:nvSpPr>
        <p:spPr>
          <a:xfrm>
            <a:off x="507206" y="3102709"/>
            <a:ext cx="1624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Shaoming Pan</a:t>
            </a:r>
          </a:p>
          <a:p>
            <a:r>
              <a:rPr lang="en-US" dirty="0" err="1">
                <a:solidFill>
                  <a:schemeClr val="bg1"/>
                </a:solidFill>
              </a:rPr>
              <a:t>Chenchuhui</a:t>
            </a:r>
            <a:r>
              <a:rPr lang="en-US" dirty="0">
                <a:solidFill>
                  <a:schemeClr val="bg1"/>
                </a:solidFill>
              </a:rPr>
              <a:t> 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System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 functional + non-functional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Architecture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gRPC Microservice (6 nodes) + REST Monolith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021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Communication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gRPC with Protobuf vs HTTP/JSON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332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Evaluation 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435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Benchmark setup and workload specification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2677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Performance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Latency &amp; throughput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5021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AI Tools &amp; Lessons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04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How Claude accelerated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💊 Add Drug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Register new drug with name, quantity, price, expiry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Get Drug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3258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Query drug details by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9320" y="91440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Update Stock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13258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Modify inventory quantity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🗑️ Delete Drug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0175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Remove drug record from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606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54680" y="26060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5468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List All Drugs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0175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View complete inventory 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606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89320" y="26060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Low Stock Alert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48" y="30175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Find drugs below threshold quantity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Design — gRPC Microservice (6 Nodes)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49040" y="868680"/>
            <a:ext cx="169164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49040" y="9052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49040" y="11430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Python Test Client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749040" y="1600200"/>
            <a:ext cx="16916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0" y="1636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NGINX Load Balancer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Port: 8080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63040" y="2606040"/>
            <a:ext cx="16916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2642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gRPC API Server 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Port: 50051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2606040"/>
            <a:ext cx="16916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642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8803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gRPC API Server 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Port: 50051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3703320"/>
            <a:ext cx="1691640" cy="777240"/>
          </a:xfrm>
          <a:prstGeom prst="rect">
            <a:avLst/>
          </a:prstGeom>
          <a:solidFill>
            <a:srgbClr val="1F4080"/>
          </a:solidFill>
          <a:ln w="12700">
            <a:solidFill>
              <a:srgbClr val="1F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977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PostgreSQL Primary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Port: 5432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3703320"/>
            <a:ext cx="1691640" cy="777240"/>
          </a:xfrm>
          <a:prstGeom prst="rect">
            <a:avLst/>
          </a:prstGeom>
          <a:solidFill>
            <a:srgbClr val="1F4080"/>
          </a:solidFill>
          <a:ln w="12700">
            <a:solidFill>
              <a:srgbClr val="1F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977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PostgreSQL Replica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Port: 5433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3703320"/>
            <a:ext cx="16916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3977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pgAdmin Monitor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Port: 5050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53712" y="164592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H="1">
            <a:off x="2549912" y="2377440"/>
            <a:ext cx="1199128" cy="3657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40680" y="2377440"/>
            <a:ext cx="1417320" cy="4114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0" y="3383280"/>
            <a:ext cx="1280160" cy="4114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H="1">
            <a:off x="3977640" y="3383279"/>
            <a:ext cx="2880360" cy="429761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34840" y="4087368"/>
            <a:ext cx="1051560" cy="0"/>
          </a:xfrm>
          <a:prstGeom prst="line">
            <a:avLst/>
          </a:prstGeom>
          <a:noFill/>
          <a:ln w="19050">
            <a:solidFill>
              <a:srgbClr val="1F4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--- Replication  |  — gRPC calls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Communication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gRPC Microservice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Protocol: </a:t>
            </a:r>
            <a:r>
              <a:rPr lang="en-US" sz="1200" dirty="0">
                <a:solidFill>
                  <a:srgbClr val="1E293B"/>
                </a:solidFill>
              </a:rPr>
              <a:t>HTTP/2 + Protobuf binary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Format: </a:t>
            </a:r>
            <a:r>
              <a:rPr lang="en-US" sz="1200" dirty="0">
                <a:solidFill>
                  <a:srgbClr val="1E293B"/>
                </a:solidFill>
              </a:rPr>
              <a:t>Binary serialization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r>
              <a:rPr lang="en-US" sz="1200" dirty="0">
                <a:solidFill>
                  <a:srgbClr val="1E293B"/>
                </a:solidFill>
              </a:rPr>
              <a:t>Faster encoding/decoding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Streaming: </a:t>
            </a:r>
            <a:r>
              <a:rPr lang="en-US" sz="1200" dirty="0">
                <a:solidFill>
                  <a:srgbClr val="1E293B"/>
                </a:solidFill>
              </a:rPr>
              <a:t>Bidirectional streams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Contract: </a:t>
            </a:r>
            <a:r>
              <a:rPr lang="en-US" sz="1200" dirty="0">
                <a:solidFill>
                  <a:srgbClr val="1E293B"/>
                </a:solidFill>
              </a:rPr>
              <a:t>Strongly typed .proto file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r>
              <a:rPr lang="en-US" sz="1200" dirty="0">
                <a:solidFill>
                  <a:srgbClr val="1E293B"/>
                </a:solidFill>
              </a:rPr>
              <a:t>Internal service-to-service calls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 Monolith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Protocol: </a:t>
            </a:r>
            <a:r>
              <a:rPr lang="en-US" sz="1200" dirty="0">
                <a:solidFill>
                  <a:srgbClr val="1E293B"/>
                </a:solidFill>
              </a:rPr>
              <a:t>HTTP/1.1 + JSON text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Format: </a:t>
            </a:r>
            <a:r>
              <a:rPr lang="en-US" sz="1200" dirty="0">
                <a:solidFill>
                  <a:srgbClr val="1E293B"/>
                </a:solidFill>
              </a:rPr>
              <a:t>Human-readable JSON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r>
              <a:rPr lang="en-US" sz="1200" dirty="0">
                <a:solidFill>
                  <a:srgbClr val="1E293B"/>
                </a:solidFill>
              </a:rPr>
              <a:t>Slower JSON parsing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Streaming: </a:t>
            </a:r>
            <a:r>
              <a:rPr lang="en-US" sz="1200" dirty="0">
                <a:solidFill>
                  <a:srgbClr val="1E293B"/>
                </a:solidFill>
              </a:rPr>
              <a:t>Not supported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Contract: </a:t>
            </a:r>
            <a:r>
              <a:rPr lang="en-US" sz="1200" dirty="0">
                <a:solidFill>
                  <a:srgbClr val="1E293B"/>
                </a:solidFill>
              </a:rPr>
              <a:t>Flexible, no schema required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r>
              <a:rPr lang="en-US" sz="1200" dirty="0">
                <a:solidFill>
                  <a:srgbClr val="1E293B"/>
                </a:solidFill>
              </a:rPr>
              <a:t>Public APIs, browser clients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Evaluation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Hardware Environment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Machine: MacBook Pro (Apple Silicon)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RAM: 16 GB  |  OS: macOS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Docker Desktop (all containers local)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Python 3.9 benchmark scripts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Workload Specification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Write: concurrent AddDrug requests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Read: concurrent ListDrugs requests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Concurrency: 10, 50, 100, 500, 1000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Metrics: Avg Latency (ms) + Throughput (req/s)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92608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= T_response − </a:t>
            </a:r>
            <a:r>
              <a:rPr lang="en-US" sz="1500" b="1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T_request</a:t>
            </a: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Throughput = Total Requests / Total elapsed 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" y="4069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gRPC: 6 nodes   |   REST Monolith: 2 containers   |   Both running simultaneously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9144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At 1000 users: gRPC read latency 1023ms vs REST 5150ms — 5× better  |  gRPC write throughput 63% higher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Trade-off Analysis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26466"/>
              </p:ext>
            </p:extLst>
          </p:nvPr>
        </p:nvGraphicFramePr>
        <p:xfrm>
          <a:off x="320040" y="914400"/>
          <a:ext cx="8503920" cy="3931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Microservice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Monolith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throughput, lower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Degrades sharply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via load balancer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bottleneck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Tolerance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 servers + DB replication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multi-node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one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proto definitions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— standard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Tools — How Claude Helped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5836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Architecture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Designed the 6-node system layout and Docker Compose configuration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6583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Proto 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057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all gRPC .proto definitions for 6 service methods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65836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Debugging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Diagnosed Dockerfile COPY path error and fixed build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6583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291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Benchmarking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611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concurrent Python benchmark and plotting scripts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069080"/>
            <a:ext cx="65836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069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389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Wrote README, final report, and this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Prompting Strategy: provide exact errors + architecture constraints → targeted, working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6 functional requirements fully implemented and tested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3794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6-node gRPC microservice architecture deployed with Docker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054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gRPC delivers 5× lower latency and 63% higher throughput at scale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Microservice design provides fault tolerance REST cannot match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AI tools (Claude) accelerated development at every stage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Thank you!  | 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632</Words>
  <Application>Microsoft Macintosh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Pharmacy Inventory Management System</dc:title>
  <dc:subject>PptxGenJS Presentation</dc:subject>
  <dc:creator>PptxGenJS</dc:creator>
  <cp:lastModifiedBy>Pan, Shaoming</cp:lastModifiedBy>
  <cp:revision>5</cp:revision>
  <dcterms:created xsi:type="dcterms:W3CDTF">2026-02-23T19:48:07Z</dcterms:created>
  <dcterms:modified xsi:type="dcterms:W3CDTF">2026-03-02T20:19:20Z</dcterms:modified>
</cp:coreProperties>
</file>