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79" d="100"/>
          <a:sy n="179" d="100"/>
        </p:scale>
        <p:origin x="264" y="-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Write Throughput (req/s)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gRPC Microservice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194.08</c:v>
                </c:pt>
                <c:pt idx="1">
                  <c:v>577.41</c:v>
                </c:pt>
                <c:pt idx="2">
                  <c:v>775.94</c:v>
                </c:pt>
                <c:pt idx="3">
                  <c:v>937.05</c:v>
                </c:pt>
                <c:pt idx="4">
                  <c:v>1010.9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61-044A-8617-8EDCBC4059B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 Monolith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101.1</c:v>
                </c:pt>
                <c:pt idx="1">
                  <c:v>423.8</c:v>
                </c:pt>
                <c:pt idx="2">
                  <c:v>467.4</c:v>
                </c:pt>
                <c:pt idx="3">
                  <c:v>532.32000000000005</c:v>
                </c:pt>
                <c:pt idx="4">
                  <c:v>618.19000000000005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61-044A-8617-8EDCBC4059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Read Latency (ms) — Lower is Better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gRPC Microservice</c:v>
                </c:pt>
              </c:strCache>
            </c:strRef>
          </c:tx>
          <c:spPr>
            <a:ln w="31750" cap="flat">
              <a:solidFill>
                <a:srgbClr val="065A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41.04</c:v>
                </c:pt>
                <c:pt idx="1">
                  <c:v>94.01</c:v>
                </c:pt>
                <c:pt idx="2">
                  <c:v>153.26</c:v>
                </c:pt>
                <c:pt idx="3">
                  <c:v>471.59</c:v>
                </c:pt>
                <c:pt idx="4">
                  <c:v>1023.71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9AD-4346-9958-9C9A8A6C3B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 Monolith</c:v>
                </c:pt>
              </c:strCache>
            </c:strRef>
          </c:tx>
          <c:spPr>
            <a:ln w="31750" cap="flat">
              <a:solidFill>
                <a:srgbClr val="F9616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79.59</c:v>
                </c:pt>
                <c:pt idx="1">
                  <c:v>343.61</c:v>
                </c:pt>
                <c:pt idx="2">
                  <c:v>606.35</c:v>
                </c:pt>
                <c:pt idx="3">
                  <c:v>2834.18</c:v>
                </c:pt>
                <c:pt idx="4">
                  <c:v>5150.04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D9AD-4346-9958-9C9A8A6C3B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257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2560320"/>
            <a:ext cx="2011680" cy="201168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40080"/>
            <a:ext cx="21945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B2E"/>
                </a:solidFill>
              </a:rPr>
              <a:t>CSE-5306 PROJECT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6858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Pharmacy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Microservice Architecture vs REST Monolith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February 2026  |  Distributed Systems</a:t>
            </a:r>
            <a:endParaRPr 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9EEE6B-7D70-146A-6469-524BD220D760}"/>
              </a:ext>
            </a:extLst>
          </p:cNvPr>
          <p:cNvSpPr txBox="1"/>
          <p:nvPr/>
        </p:nvSpPr>
        <p:spPr>
          <a:xfrm>
            <a:off x="507206" y="3102709"/>
            <a:ext cx="1624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Shaoming Pan</a:t>
            </a:r>
          </a:p>
          <a:p>
            <a:r>
              <a:rPr lang="en-US" dirty="0" err="1">
                <a:solidFill>
                  <a:schemeClr val="bg1"/>
                </a:solidFill>
              </a:rPr>
              <a:t>Chenchuhui</a:t>
            </a:r>
            <a:r>
              <a:rPr lang="en-US" dirty="0">
                <a:solidFill>
                  <a:schemeClr val="bg1"/>
                </a:solidFill>
              </a:rPr>
              <a:t> Hu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332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System Requirements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4356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6 functional + non-functional requirements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219456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19456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26771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Architecture Design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67004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gRPC Microservice (6 nodes) + REST Monolith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42900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342900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5021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Communication Model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90448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gRPC with Protobuf vs HTTP/JSON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46320" y="96012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96012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40680" y="10332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Evaluation Methodology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40680" y="14356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Benchmark setup and workload specification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19456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219456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219456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226771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Performance Results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267004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Latency &amp; throughput comparison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342900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42900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42900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40680" y="35021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AI Tools &amp; Lessons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40680" y="390448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How Claude accelerated development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System Requirements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26517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💊 Add Drug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32588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Register new drug with name, quantity, price, expiry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54680" y="91440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154680" y="914400"/>
            <a:ext cx="26517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5468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🔍 Get Drug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64408" y="132588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Query drug details by 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91440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6517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8932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📦 Update Stock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9048" y="132588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Modify inventory quantity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60604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606040"/>
            <a:ext cx="26517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606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🗑️ Delete Drug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301752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Remove drug record from system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260604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154680" y="2606040"/>
            <a:ext cx="26517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154680" y="2606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📋 List All Drugs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64408" y="301752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View complete inventory list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9320" y="260604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989320" y="2606040"/>
            <a:ext cx="26517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989320" y="2606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⚠️ Low Stock Alert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99048" y="301752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Find drugs below threshold quantity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Architecture Design — gRPC Microservice (6 Nodes)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749040" y="868680"/>
            <a:ext cx="1691640" cy="7772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749040" y="9052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CLIENT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749040" y="1143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Python Test Client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0" y="1600200"/>
            <a:ext cx="169164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49040" y="16367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74904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NGINX Load Balancer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8080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463040" y="2606040"/>
            <a:ext cx="169164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63040" y="26426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63040" y="28803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gRPC API Server 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50051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35040" y="2606040"/>
            <a:ext cx="169164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0" y="26426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5040" y="28803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gRPC API Server 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50051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0" y="3703320"/>
            <a:ext cx="1691640" cy="777240"/>
          </a:xfrm>
          <a:prstGeom prst="rect">
            <a:avLst/>
          </a:prstGeom>
          <a:solidFill>
            <a:srgbClr val="1F4080"/>
          </a:solidFill>
          <a:ln w="12700">
            <a:solidFill>
              <a:srgbClr val="1F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0" y="3739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0" y="397764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PostgreSQL Primary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5432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0" y="3703320"/>
            <a:ext cx="1691640" cy="777240"/>
          </a:xfrm>
          <a:prstGeom prst="rect">
            <a:avLst/>
          </a:prstGeom>
          <a:solidFill>
            <a:srgbClr val="1F4080"/>
          </a:solidFill>
          <a:ln w="12700">
            <a:solidFill>
              <a:srgbClr val="1F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0" y="3739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0" y="397764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PostgreSQL Replica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5433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82880" y="3703320"/>
            <a:ext cx="1691640" cy="777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82880" y="3739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2880" y="397764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pgAdmin Monitor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5050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53712" y="1645920"/>
            <a:ext cx="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749040" y="2377440"/>
            <a:ext cx="0" cy="41148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440680" y="2377440"/>
            <a:ext cx="1417320" cy="41148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286000" y="3383280"/>
            <a:ext cx="1280160" cy="41148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858000" y="3383280"/>
            <a:ext cx="0" cy="41148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434840" y="4087368"/>
            <a:ext cx="1051560" cy="0"/>
          </a:xfrm>
          <a:prstGeom prst="line">
            <a:avLst/>
          </a:prstGeom>
          <a:noFill/>
          <a:ln w="19050">
            <a:solidFill>
              <a:srgbClr val="1F408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76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--- Replication  |  — gRPC calls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Communication Model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gRPC Microservice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481328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Protocol: </a:t>
            </a:r>
            <a:r>
              <a:rPr lang="en-US" sz="1200" dirty="0">
                <a:solidFill>
                  <a:srgbClr val="1E293B"/>
                </a:solidFill>
              </a:rPr>
              <a:t>HTTP/2 + Protobuf binary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Format: </a:t>
            </a:r>
            <a:r>
              <a:rPr lang="en-US" sz="1200" dirty="0">
                <a:solidFill>
                  <a:srgbClr val="1E293B"/>
                </a:solidFill>
              </a:rPr>
              <a:t>Binary serialization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Speed: </a:t>
            </a:r>
            <a:r>
              <a:rPr lang="en-US" sz="1200" dirty="0">
                <a:solidFill>
                  <a:srgbClr val="1E293B"/>
                </a:solidFill>
              </a:rPr>
              <a:t>Faster encoding/decoding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Streaming: </a:t>
            </a:r>
            <a:r>
              <a:rPr lang="en-US" sz="1200" dirty="0">
                <a:solidFill>
                  <a:srgbClr val="1E293B"/>
                </a:solidFill>
              </a:rPr>
              <a:t>Bidirectional streams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Contract: </a:t>
            </a:r>
            <a:r>
              <a:rPr lang="en-US" sz="1200" dirty="0">
                <a:solidFill>
                  <a:srgbClr val="1E293B"/>
                </a:solidFill>
              </a:rPr>
              <a:t>Strongly typed .proto file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for: </a:t>
            </a:r>
            <a:r>
              <a:rPr lang="en-US" sz="1200" dirty="0">
                <a:solidFill>
                  <a:srgbClr val="1E293B"/>
                </a:solidFill>
              </a:rPr>
              <a:t>Internal service-to-service calls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40233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Monolith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481328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Protocol: </a:t>
            </a:r>
            <a:r>
              <a:rPr lang="en-US" sz="1200" dirty="0">
                <a:solidFill>
                  <a:srgbClr val="1E293B"/>
                </a:solidFill>
              </a:rPr>
              <a:t>HTTP/1.1 + JSON text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Format: </a:t>
            </a:r>
            <a:r>
              <a:rPr lang="en-US" sz="1200" dirty="0">
                <a:solidFill>
                  <a:srgbClr val="1E293B"/>
                </a:solidFill>
              </a:rPr>
              <a:t>Human-readable JSON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Speed: </a:t>
            </a:r>
            <a:r>
              <a:rPr lang="en-US" sz="1200" dirty="0">
                <a:solidFill>
                  <a:srgbClr val="1E293B"/>
                </a:solidFill>
              </a:rPr>
              <a:t>Slower JSON parsing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Streaming: </a:t>
            </a:r>
            <a:r>
              <a:rPr lang="en-US" sz="1200" dirty="0">
                <a:solidFill>
                  <a:srgbClr val="1E293B"/>
                </a:solidFill>
              </a:rPr>
              <a:t>Not supported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Contract: </a:t>
            </a:r>
            <a:r>
              <a:rPr lang="en-US" sz="1200" dirty="0">
                <a:solidFill>
                  <a:srgbClr val="1E293B"/>
                </a:solidFill>
              </a:rPr>
              <a:t>Flexible, no schema required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for: </a:t>
            </a:r>
            <a:r>
              <a:rPr lang="en-US" sz="1200" dirty="0">
                <a:solidFill>
                  <a:srgbClr val="1E293B"/>
                </a:solidFill>
              </a:rPr>
              <a:t>Public APIs, browser clients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Evaluation Methodology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🖥  Hardware Environment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657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Machine: MacBook Pro (Apple Silicon)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RAM: 16 GB  |  OS: macOS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Docker Desktop (all containers local)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Python 3.9 benchmark scripts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9144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📊  Workload Specification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371600"/>
            <a:ext cx="3657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Write: concurrent AddDrug requests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Read: concurrent ListDrugs requests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Concurrency: 10, 50, 100, 500, 1000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Metrics: Avg Latency (ms) + Throughput (req/s)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926080"/>
            <a:ext cx="8503920" cy="96012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926080"/>
            <a:ext cx="8503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 = T_response − T_request          Throughput = Total Requests / Total 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0040" y="406908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</a:rPr>
              <a:t>gRPC: 6 nodes   |   REST Monolith: 2 containers   |   Both running simultaneously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Performance Results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14400"/>
          <a:ext cx="41148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709160" y="914400"/>
          <a:ext cx="41148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320040" y="4297680"/>
            <a:ext cx="8503920" cy="59436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20040" y="42976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At 1000 users: gRPC read latency 1023ms vs REST 5150ms — 5× better  |  gRPC write throughput 63% higher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Trade-off Analysis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926466"/>
              </p:ext>
            </p:extLst>
          </p:nvPr>
        </p:nvGraphicFramePr>
        <p:xfrm>
          <a:off x="320040" y="914400"/>
          <a:ext cx="8503920" cy="39319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gRPC Microservice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Monolith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throughput, lower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Degrades sharply at scale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via load balancer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bottleneck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Redundant servers + DB replication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point of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— multi-node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— one container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Speed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— proto definitions needed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— standard 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AI Tools — How Claude Helped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658368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60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🏗️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78992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Architecture Design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78992" y="128016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Designed the 6-node system layout and Docker Compose configuration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73736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737360"/>
            <a:ext cx="658368" cy="6583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7373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78992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Proto File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057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Generated all gRPC .proto definitions for 6 service methods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5146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514600"/>
            <a:ext cx="658368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5146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🐛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78992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Debugging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78992" y="2834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Diagnosed Dockerfile COPY path error and fixed build context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29184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291840"/>
            <a:ext cx="658368" cy="6583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291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78992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Benchmarking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36118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Generated concurrent Python benchmark and plotting scripts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0690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4069080"/>
            <a:ext cx="658368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069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078992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Documentation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78992" y="43891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Wrote README, final report, and this presentation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Prompting Strategy: provide exact errors + architecture constraints → targeted, working solutions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17043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6 functional requirements fully implemented and tested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83794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6-node gRPC microservice architecture deployed with Docker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478024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478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50545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gRPC delivers 5× lower latency and 63% higher throughput at scale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145536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17296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Microservice design provides fault tolerance REST cannot match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813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AI tools (Claude) accelerated development at every stage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832104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</a:rPr>
              <a:t>Thank you!  |  Q&amp;A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631</Words>
  <Application>Microsoft Macintosh PowerPoint</Application>
  <PresentationFormat>On-screen Show (16:9)</PresentationFormat>
  <Paragraphs>152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Distributed Pharmacy Inventory Management System</dc:title>
  <dc:subject>PptxGenJS Presentation</dc:subject>
  <dc:creator>PptxGenJS</dc:creator>
  <cp:lastModifiedBy>Pan, Shaoming</cp:lastModifiedBy>
  <cp:revision>2</cp:revision>
  <dcterms:created xsi:type="dcterms:W3CDTF">2026-02-23T19:48:07Z</dcterms:created>
  <dcterms:modified xsi:type="dcterms:W3CDTF">2026-02-23T20:24:24Z</dcterms:modified>
</cp:coreProperties>
</file>