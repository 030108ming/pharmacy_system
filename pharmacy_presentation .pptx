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Write Throughput (req/s)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gRPC Microservice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50</c:v>
                </c:pt>
                <c:pt idx="2">
                  <c:v>100</c:v>
                </c:pt>
                <c:pt idx="3">
                  <c:v>500</c:v>
                </c:pt>
                <c:pt idx="4">
                  <c:v>1000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194.08</c:v>
                </c:pt>
                <c:pt idx="1">
                  <c:v>577.41</c:v>
                </c:pt>
                <c:pt idx="2">
                  <c:v>775.94</c:v>
                </c:pt>
                <c:pt idx="3">
                  <c:v>937.05</c:v>
                </c:pt>
                <c:pt idx="4">
                  <c:v>1010.9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A61-044A-8617-8EDCBC4059B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REST Monolith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50</c:v>
                </c:pt>
                <c:pt idx="2">
                  <c:v>100</c:v>
                </c:pt>
                <c:pt idx="3">
                  <c:v>500</c:v>
                </c:pt>
                <c:pt idx="4">
                  <c:v>1000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101.1</c:v>
                </c:pt>
                <c:pt idx="1">
                  <c:v>423.8</c:v>
                </c:pt>
                <c:pt idx="2">
                  <c:v>467.4</c:v>
                </c:pt>
                <c:pt idx="3">
                  <c:v>532.32000000000005</c:v>
                </c:pt>
                <c:pt idx="4">
                  <c:v>618.19000000000005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A61-044A-8617-8EDCBC4059B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Read Latency (ms) — Lower is Better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gRPC Microservice</c:v>
                </c:pt>
              </c:strCache>
            </c:strRef>
          </c:tx>
          <c:spPr>
            <a:ln w="31750" cap="flat">
              <a:solidFill>
                <a:srgbClr val="065A8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65A82"/>
              </a:solidFill>
              <a:ln w="9525" cap="flat">
                <a:solidFill>
                  <a:srgbClr val="065A82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50</c:v>
                </c:pt>
                <c:pt idx="2">
                  <c:v>100</c:v>
                </c:pt>
                <c:pt idx="3">
                  <c:v>500</c:v>
                </c:pt>
                <c:pt idx="4">
                  <c:v>1000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41.04</c:v>
                </c:pt>
                <c:pt idx="1">
                  <c:v>94.01</c:v>
                </c:pt>
                <c:pt idx="2">
                  <c:v>153.26</c:v>
                </c:pt>
                <c:pt idx="3">
                  <c:v>471.59</c:v>
                </c:pt>
                <c:pt idx="4">
                  <c:v>1023.71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9AD-4346-9958-9C9A8A6C3BE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REST Monolith</c:v>
                </c:pt>
              </c:strCache>
            </c:strRef>
          </c:tx>
          <c:spPr>
            <a:ln w="31750" cap="flat">
              <a:solidFill>
                <a:srgbClr val="F9616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96167"/>
              </a:solidFill>
              <a:ln w="9525" cap="flat">
                <a:solidFill>
                  <a:srgbClr val="F96167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50</c:v>
                </c:pt>
                <c:pt idx="2">
                  <c:v>100</c:v>
                </c:pt>
                <c:pt idx="3">
                  <c:v>500</c:v>
                </c:pt>
                <c:pt idx="4">
                  <c:v>1000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79.59</c:v>
                </c:pt>
                <c:pt idx="1">
                  <c:v>343.61</c:v>
                </c:pt>
                <c:pt idx="2">
                  <c:v>606.35</c:v>
                </c:pt>
                <c:pt idx="3">
                  <c:v>2834.18</c:v>
                </c:pt>
                <c:pt idx="4">
                  <c:v>5150.04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D9AD-4346-9958-9C9A8A6C3B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2571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065A82">
              <a:alpha val="30000"/>
            </a:srgbClr>
          </a:solidFill>
          <a:ln w="12700">
            <a:solidFill>
              <a:srgbClr val="065A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772400" y="2560320"/>
            <a:ext cx="2011680" cy="2011680"/>
          </a:xfrm>
          <a:prstGeom prst="ellipse">
            <a:avLst/>
          </a:prstGeom>
          <a:solidFill>
            <a:srgbClr val="02C39A">
              <a:alpha val="20000"/>
            </a:srgbClr>
          </a:solidFill>
          <a:ln w="12700">
            <a:solidFill>
              <a:srgbClr val="02C39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40080"/>
            <a:ext cx="2194560" cy="347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1B2E"/>
                </a:solidFill>
              </a:rPr>
              <a:t>CSE-5306 PROJECT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68580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Pharmacy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Management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457200" y="37947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 Microservice Architecture vs REST Monolith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480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</a:rPr>
              <a:t>February 2026  |  Distributed Systems</a:t>
            </a:r>
            <a:endParaRPr lang="en-US" sz="1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9EEE6B-7D70-146A-6469-524BD220D760}"/>
              </a:ext>
            </a:extLst>
          </p:cNvPr>
          <p:cNvSpPr txBox="1"/>
          <p:nvPr/>
        </p:nvSpPr>
        <p:spPr>
          <a:xfrm>
            <a:off x="507206" y="3102709"/>
            <a:ext cx="16241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Shaoming Pan</a:t>
            </a:r>
          </a:p>
          <a:p>
            <a:r>
              <a:rPr lang="en-US" dirty="0" err="1">
                <a:solidFill>
                  <a:schemeClr val="bg1"/>
                </a:solidFill>
              </a:rPr>
              <a:t>Chenchuhui</a:t>
            </a:r>
            <a:r>
              <a:rPr lang="en-US" dirty="0">
                <a:solidFill>
                  <a:schemeClr val="bg1"/>
                </a:solidFill>
              </a:rPr>
              <a:t> Hu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0292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96012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103327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</a:rPr>
              <a:t>System Requirements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43560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6 functional + non-functional requirements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219456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2194560"/>
            <a:ext cx="50292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219456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" y="226771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</a:rPr>
              <a:t>Architecture Design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67004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gRPC Microservice (6 nodes) + REST Monolith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42900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5760" y="3429000"/>
            <a:ext cx="50292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5760" y="342900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0120" y="350215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</a:rPr>
              <a:t>Communication Model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60120" y="390448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gRPC with Protobuf vs HTTP/JSON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96012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846320" y="960120"/>
            <a:ext cx="50292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46320" y="96012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40680" y="103327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</a:rPr>
              <a:t>Evaluation Methodology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40680" y="143560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Benchmark setup and workload specification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219456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2194560"/>
            <a:ext cx="50292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0" y="219456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40680" y="226771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</a:rPr>
              <a:t>Performance Results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40680" y="267004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Latency &amp; throughput comparison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3429000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429000"/>
            <a:ext cx="50292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429000"/>
            <a:ext cx="502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440680" y="350215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</a:rPr>
              <a:t>AI Tools &amp; Lessons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40680" y="390448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How Claude accelerated development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System Requirements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6517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2651760" cy="3474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💊 Add Drug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29768" y="1325880"/>
            <a:ext cx="2432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Register new drug with name, quantity, price, expiry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54680" y="914400"/>
            <a:ext cx="26517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154680" y="914400"/>
            <a:ext cx="2651760" cy="3474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154680" y="9144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🔍 Get Drug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64408" y="1325880"/>
            <a:ext cx="2432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Query drug details by 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89320" y="914400"/>
            <a:ext cx="26517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89320" y="914400"/>
            <a:ext cx="2651760" cy="3474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89320" y="9144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📦 Update Stock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99048" y="1325880"/>
            <a:ext cx="2432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Modify inventory quantity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2606040"/>
            <a:ext cx="26517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2606040"/>
            <a:ext cx="2651760" cy="347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" y="260604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🗑️ Delete Drug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29768" y="3017520"/>
            <a:ext cx="2432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Remove drug record from system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154680" y="2606040"/>
            <a:ext cx="26517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154680" y="2606040"/>
            <a:ext cx="2651760" cy="347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154680" y="260604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📋 List All Drugs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64408" y="3017520"/>
            <a:ext cx="2432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View complete inventory list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89320" y="2606040"/>
            <a:ext cx="26517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989320" y="2606040"/>
            <a:ext cx="2651760" cy="3474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989320" y="260604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⚠️ Low Stock Alert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099048" y="3017520"/>
            <a:ext cx="2432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Find drugs below threshold quantity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Architecture Design — gRPC Microservice (6 Nodes)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749040" y="868680"/>
            <a:ext cx="1691640" cy="7772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749040" y="90525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CLIENT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749040" y="114300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Python Test Client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749040" y="1600200"/>
            <a:ext cx="169164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749040" y="163677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NODE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749040" y="187452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NGINX Load Balancer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Port: 8080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463040" y="2606040"/>
            <a:ext cx="1691640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463040" y="26426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NODE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463040" y="288036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gRPC API Server A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Port: 50051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35040" y="2606040"/>
            <a:ext cx="1691640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35040" y="26426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NODE 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35040" y="288036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gRPC API Server B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Port: 50051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0" y="3703320"/>
            <a:ext cx="1691640" cy="777240"/>
          </a:xfrm>
          <a:prstGeom prst="rect">
            <a:avLst/>
          </a:prstGeom>
          <a:solidFill>
            <a:srgbClr val="1F4080"/>
          </a:solidFill>
          <a:ln w="12700">
            <a:solidFill>
              <a:srgbClr val="1F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43200" y="37398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NODE 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743200" y="397764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PostgreSQL Primary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Port: 5432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486400" y="3703320"/>
            <a:ext cx="1691640" cy="777240"/>
          </a:xfrm>
          <a:prstGeom prst="rect">
            <a:avLst/>
          </a:prstGeom>
          <a:solidFill>
            <a:srgbClr val="1F4080"/>
          </a:solidFill>
          <a:ln w="12700">
            <a:solidFill>
              <a:srgbClr val="1F408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0" y="37398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NODE 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0" y="397764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PostgreSQL Replica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Port: 5433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82880" y="3703320"/>
            <a:ext cx="1691640" cy="7772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82880" y="37398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NODE 6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82880" y="397764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pgAdmin Monitor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Port: 5050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53712" y="1645920"/>
            <a:ext cx="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 flipH="1">
            <a:off x="2549912" y="2377440"/>
            <a:ext cx="1199128" cy="36576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440680" y="2377440"/>
            <a:ext cx="1417320" cy="41148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286000" y="3383280"/>
            <a:ext cx="1280160" cy="41148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 flipH="1">
            <a:off x="3977640" y="3383279"/>
            <a:ext cx="2880360" cy="429761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434840" y="4087368"/>
            <a:ext cx="1051560" cy="0"/>
          </a:xfrm>
          <a:prstGeom prst="line">
            <a:avLst/>
          </a:prstGeom>
          <a:noFill/>
          <a:ln w="19050">
            <a:solidFill>
              <a:srgbClr val="1F408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6576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--- Replication  |  — gRPC calls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Communication Model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02336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02336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gRPC Microservice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481328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Protocol: </a:t>
            </a:r>
            <a:r>
              <a:rPr lang="en-US" sz="1200" dirty="0">
                <a:solidFill>
                  <a:srgbClr val="1E293B"/>
                </a:solidFill>
              </a:rPr>
              <a:t>HTTP/2 + Protobuf binary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Format: </a:t>
            </a:r>
            <a:r>
              <a:rPr lang="en-US" sz="1200" dirty="0">
                <a:solidFill>
                  <a:srgbClr val="1E293B"/>
                </a:solidFill>
              </a:rPr>
              <a:t>Binary serialization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Speed: </a:t>
            </a:r>
            <a:r>
              <a:rPr lang="en-US" sz="1200" dirty="0">
                <a:solidFill>
                  <a:srgbClr val="1E293B"/>
                </a:solidFill>
              </a:rPr>
              <a:t>Faster encoding/decoding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Streaming: </a:t>
            </a:r>
            <a:r>
              <a:rPr lang="en-US" sz="1200" dirty="0">
                <a:solidFill>
                  <a:srgbClr val="1E293B"/>
                </a:solidFill>
              </a:rPr>
              <a:t>Bidirectional streams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Contract: </a:t>
            </a:r>
            <a:r>
              <a:rPr lang="en-US" sz="1200" dirty="0">
                <a:solidFill>
                  <a:srgbClr val="1E293B"/>
                </a:solidFill>
              </a:rPr>
              <a:t>Strongly typed .proto file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Best for: </a:t>
            </a:r>
            <a:r>
              <a:rPr lang="en-US" sz="1200" dirty="0">
                <a:solidFill>
                  <a:srgbClr val="1E293B"/>
                </a:solidFill>
              </a:rPr>
              <a:t>Internal service-to-service calls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00600" y="914400"/>
            <a:ext cx="402336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00600" y="914400"/>
            <a:ext cx="4023360" cy="4572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00600" y="914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REST Monolith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83480" y="1481328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Protocol: </a:t>
            </a:r>
            <a:r>
              <a:rPr lang="en-US" sz="1200" dirty="0">
                <a:solidFill>
                  <a:srgbClr val="1E293B"/>
                </a:solidFill>
              </a:rPr>
              <a:t>HTTP/1.1 + JSON text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Format: </a:t>
            </a:r>
            <a:r>
              <a:rPr lang="en-US" sz="1200" dirty="0">
                <a:solidFill>
                  <a:srgbClr val="1E293B"/>
                </a:solidFill>
              </a:rPr>
              <a:t>Human-readable JSON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Speed: </a:t>
            </a:r>
            <a:r>
              <a:rPr lang="en-US" sz="1200" dirty="0">
                <a:solidFill>
                  <a:srgbClr val="1E293B"/>
                </a:solidFill>
              </a:rPr>
              <a:t>Slower JSON parsing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Streaming: </a:t>
            </a:r>
            <a:r>
              <a:rPr lang="en-US" sz="1200" dirty="0">
                <a:solidFill>
                  <a:srgbClr val="1E293B"/>
                </a:solidFill>
              </a:rPr>
              <a:t>Not supported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Contract: </a:t>
            </a:r>
            <a:r>
              <a:rPr lang="en-US" sz="1200" dirty="0">
                <a:solidFill>
                  <a:srgbClr val="1E293B"/>
                </a:solidFill>
              </a:rPr>
              <a:t>Flexible, no schema required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Best for: </a:t>
            </a:r>
            <a:r>
              <a:rPr lang="en-US" sz="1200" dirty="0">
                <a:solidFill>
                  <a:srgbClr val="1E293B"/>
                </a:solidFill>
              </a:rPr>
              <a:t>Public APIs, browser clients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Evaluation Methodology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023360" cy="3840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🖥  Hardware Environment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657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Machine: MacBook Pro (Apple Silicon)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RAM: 16 GB  |  OS: macOS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Docker Desktop (all containers local)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Python 3.9 benchmark scripts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00600" y="91440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00600" y="914400"/>
            <a:ext cx="4023360" cy="3840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00600" y="9144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📊  Workload Specification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371600"/>
            <a:ext cx="3657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Write: concurrent AddDrug requests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Read: concurrent ListDrugs requests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Concurrency: 10, 50, 100, 500, 1000
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Metrics: Avg Latency (ms) + Throughput (req/s)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926080"/>
            <a:ext cx="8503920" cy="960120"/>
          </a:xfrm>
          <a:prstGeom prst="rect">
            <a:avLst/>
          </a:prstGeom>
          <a:solidFill>
            <a:srgbClr val="021B2E"/>
          </a:solidFill>
          <a:ln w="12700">
            <a:solidFill>
              <a:srgbClr val="021B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2926080"/>
            <a:ext cx="8503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Latency = T_response − </a:t>
            </a:r>
            <a:r>
              <a:rPr lang="en-US" sz="1500" b="1" dirty="0" err="1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T_request</a:t>
            </a:r>
            <a:r>
              <a:rPr lang="en-US" sz="15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Throughput = Total Requests / Total elapsed Time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20040" y="406908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</a:rPr>
              <a:t>gRPC: 6 nodes   |   REST Monolith: 2 containers   |   Both running simultaneously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Performance Results</a:t>
            </a:r>
            <a:endParaRPr lang="en-US" sz="2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20040" y="914400"/>
          <a:ext cx="41148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4709160" y="914400"/>
          <a:ext cx="41148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Shape 2"/>
          <p:cNvSpPr/>
          <p:nvPr/>
        </p:nvSpPr>
        <p:spPr>
          <a:xfrm>
            <a:off x="320040" y="4297680"/>
            <a:ext cx="8503920" cy="594360"/>
          </a:xfrm>
          <a:prstGeom prst="rect">
            <a:avLst/>
          </a:prstGeom>
          <a:solidFill>
            <a:srgbClr val="021B2E"/>
          </a:solidFill>
          <a:ln w="12700">
            <a:solidFill>
              <a:srgbClr val="021B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320040" y="429768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</a:rPr>
              <a:t>At 1000 users: gRPC read latency 1023ms vs REST 5150ms — 5× better  |  gRPC write throughput 63% higher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Trade-off Analysis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8926466"/>
              </p:ext>
            </p:extLst>
          </p:nvPr>
        </p:nvGraphicFramePr>
        <p:xfrm>
          <a:off x="320040" y="914400"/>
          <a:ext cx="8503920" cy="393192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5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gRPC Microservice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Monolith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throughput, lower latency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Degrades sharply at scale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Horizontal via load balancer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bottleneck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Tolerance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Redundant servers + DB replication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point of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— multi-node orchestration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— one container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 Speed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Slower — proto definitions needed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Faster — standard 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4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AI Tools — How Claude Helped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658368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960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🏗️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78992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</a:rPr>
              <a:t>Architecture Design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78992" y="128016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Designed the 6-node system layout and Docker Compose configuration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173736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" y="1737360"/>
            <a:ext cx="658368" cy="65836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17373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📄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78992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</a:rPr>
              <a:t>Proto File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78992" y="20574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Generated all gRPC .proto definitions for 6 service methods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251460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514600"/>
            <a:ext cx="658368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5146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🐛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78992" y="2560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</a:rPr>
              <a:t>Debugging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78992" y="28346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Diagnosed Dockerfile COPY path error and fixed build context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29184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0040" y="3291840"/>
            <a:ext cx="658368" cy="65836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0040" y="3291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078992" y="3337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</a:rPr>
              <a:t>Benchmarking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78992" y="36118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Generated concurrent Python benchmark and plotting scripts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406908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4069080"/>
            <a:ext cx="658368" cy="6583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069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078992" y="4114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</a:rPr>
              <a:t>Documentation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78992" y="438912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Wrote README, final report, and this presentation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0040" y="475488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</a:rPr>
              <a:t>Prompting Strategy: provide exact errors + architecture constraints → targeted, working solutions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065A82">
              <a:alpha val="30000"/>
            </a:srgbClr>
          </a:solidFill>
          <a:ln w="12700">
            <a:solidFill>
              <a:srgbClr val="065A82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Conclusion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438912" cy="43891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17043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6 functional requirements fully implemented and tested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10512"/>
            <a:ext cx="438912" cy="43891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810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1837944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6-node gRPC microservice architecture deployed with Docker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478024"/>
            <a:ext cx="438912" cy="43891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4780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505456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gRPC delivers 5× lower latency and 63% higher throughput at scale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145536"/>
            <a:ext cx="438912" cy="43891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3145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3172968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Microservice design provides fault tolerance REST cannot match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13048"/>
            <a:ext cx="438912" cy="43891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38130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384048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AI tools (Claude) accelerated development at every stage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4572000"/>
            <a:ext cx="8321040" cy="3200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</a:rPr>
              <a:t>Thank you!  |  Q&amp;A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632</Words>
  <Application>Microsoft Macintosh PowerPoint</Application>
  <PresentationFormat>On-screen Show (16:9)</PresentationFormat>
  <Paragraphs>152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Distributed Pharmacy Inventory Management System</dc:title>
  <dc:subject>PptxGenJS Presentation</dc:subject>
  <dc:creator>PptxGenJS</dc:creator>
  <cp:lastModifiedBy>Pan, Shaoming</cp:lastModifiedBy>
  <cp:revision>5</cp:revision>
  <dcterms:created xsi:type="dcterms:W3CDTF">2026-02-23T19:48:07Z</dcterms:created>
  <dcterms:modified xsi:type="dcterms:W3CDTF">2026-03-02T20:40:57Z</dcterms:modified>
</cp:coreProperties>
</file>