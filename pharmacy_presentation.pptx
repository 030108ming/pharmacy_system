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Write Throughput (req/s)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gRPC Microservice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50</c:v>
                  </c:pt>
                  <c:pt idx="2">
                    <c:v>100</c:v>
                  </c:pt>
                  <c:pt idx="3">
                    <c:v>500</c:v>
                  </c:pt>
                  <c:pt idx="4">
                    <c:v>1000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194.08</c:v>
                </c:pt>
                <c:pt idx="1">
                  <c:v>577.41</c:v>
                </c:pt>
                <c:pt idx="2">
                  <c:v>775.94</c:v>
                </c:pt>
                <c:pt idx="3">
                  <c:v>937.05</c:v>
                </c:pt>
                <c:pt idx="4">
                  <c:v>1010.9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 Monolith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50</c:v>
                  </c:pt>
                  <c:pt idx="2">
                    <c:v>100</c:v>
                  </c:pt>
                  <c:pt idx="3">
                    <c:v>500</c:v>
                  </c:pt>
                  <c:pt idx="4">
                    <c:v>1000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101.1</c:v>
                </c:pt>
                <c:pt idx="1">
                  <c:v>423.8</c:v>
                </c:pt>
                <c:pt idx="2">
                  <c:v>467.4</c:v>
                </c:pt>
                <c:pt idx="3">
                  <c:v>532.32</c:v>
                </c:pt>
                <c:pt idx="4">
                  <c:v>618.19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Read Latency (ms) — Lower is Better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gRPC Microservice</c:v>
                </c:pt>
              </c:strCache>
            </c:strRef>
          </c:tx>
          <c:spPr>
            <a:solidFill>
              <a:srgbClr val="065A82"/>
            </a:solidFill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50</c:v>
                  </c:pt>
                  <c:pt idx="2">
                    <c:v>100</c:v>
                  </c:pt>
                  <c:pt idx="3">
                    <c:v>500</c:v>
                  </c:pt>
                  <c:pt idx="4">
                    <c:v>1000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41.04</c:v>
                </c:pt>
                <c:pt idx="1">
                  <c:v>94.01</c:v>
                </c:pt>
                <c:pt idx="2">
                  <c:v>153.26</c:v>
                </c:pt>
                <c:pt idx="3">
                  <c:v>471.59</c:v>
                </c:pt>
                <c:pt idx="4">
                  <c:v>1023.71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 Monolith</c:v>
                </c:pt>
              </c:strCache>
            </c:strRef>
          </c:tx>
          <c:spPr>
            <a:solidFill>
              <a:srgbClr val="F96167"/>
            </a:solidFill>
            <a:ln w="31750" cap="flat">
              <a:solidFill>
                <a:srgbClr val="F9616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50</c:v>
                  </c:pt>
                  <c:pt idx="2">
                    <c:v>100</c:v>
                  </c:pt>
                  <c:pt idx="3">
                    <c:v>500</c:v>
                  </c:pt>
                  <c:pt idx="4">
                    <c:v>1000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79.59</c:v>
                </c:pt>
                <c:pt idx="1">
                  <c:v>343.61</c:v>
                </c:pt>
                <c:pt idx="2">
                  <c:v>606.35</c:v>
                </c:pt>
                <c:pt idx="3">
                  <c:v>2834.18</c:v>
                </c:pt>
                <c:pt idx="4">
                  <c:v>5150.04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"/>
            <a:ext cx="219456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</a:rPr>
              <a:t>CSE-5306 PROJECT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6858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Pharmacy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Microservice Architecture vs REST Monolith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February 2026  |  Distributed Systems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3327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System Requirements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4356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 functional + non-functional requirements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9456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945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26771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Architecture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6700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gRPC Microservice (6 nodes) + REST Monolith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2900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290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50215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Communication 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9044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gRPC with Protobuf vs HTTP/JSON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9601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96012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9601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103327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Evaluation Methodology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14356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Benchmark setup and workload specification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1945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19456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1945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226771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Performance Results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26700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Latency &amp; throughput comparison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4290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42900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4290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350215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AI Tools &amp; Lessons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39044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How Claude accelerated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65176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💊 Add Drug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32588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Register new drug with name, quantity, price, expiry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9144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914400"/>
            <a:ext cx="265176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914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🔍 Get Drug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64408" y="132588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Query drug details by 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9144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914400"/>
            <a:ext cx="265176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914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Update Stock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9048" y="132588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Modify inventory quantity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6060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06040"/>
            <a:ext cx="265176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🗑️ Delete Drug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301752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Remove drug record from system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26060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606040"/>
            <a:ext cx="265176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List All Drugs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64408" y="301752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View complete inventory list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26060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9320" y="2606040"/>
            <a:ext cx="265176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Low Stock Alert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99048" y="301752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Find drugs below threshold quantity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Architecture Design — gRPC Microservice (6 Nodes)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749040" y="868680"/>
            <a:ext cx="1691640" cy="7772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749040" y="9052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749040" y="114300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Python Test Client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749040" y="1600200"/>
            <a:ext cx="169164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49040" y="16367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49040" y="187452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NGINX Load Balancer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Port: 8080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463040" y="2606040"/>
            <a:ext cx="169164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63040" y="26426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28803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gRPC API Server 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Port: 50051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35040" y="2606040"/>
            <a:ext cx="169164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26426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28803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gRPC API Server 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Port: 50051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0" y="3703320"/>
            <a:ext cx="1691640" cy="777240"/>
          </a:xfrm>
          <a:prstGeom prst="rect">
            <a:avLst/>
          </a:prstGeom>
          <a:solidFill>
            <a:srgbClr val="1F4080"/>
          </a:solidFill>
          <a:ln w="12700">
            <a:solidFill>
              <a:srgbClr val="1F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0" y="37398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39776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PostgreSQL Primary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Port: 5432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0" y="3703320"/>
            <a:ext cx="1691640" cy="777240"/>
          </a:xfrm>
          <a:prstGeom prst="rect">
            <a:avLst/>
          </a:prstGeom>
          <a:solidFill>
            <a:srgbClr val="1F4080"/>
          </a:solidFill>
          <a:ln w="12700">
            <a:solidFill>
              <a:srgbClr val="1F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0" y="37398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 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39776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PostgreSQL Replica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Port: 5433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2880" y="3703320"/>
            <a:ext cx="169164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82880" y="37398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 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" y="39776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pgAdmin Monitor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Port: 5050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53712" y="1645920"/>
            <a:ext cx="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2377440"/>
            <a:ext cx="-1417320" cy="41148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40680" y="2377440"/>
            <a:ext cx="1417320" cy="41148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383280"/>
            <a:ext cx="1280160" cy="41148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3383280"/>
            <a:ext cx="-1508760" cy="41148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34840" y="4087368"/>
            <a:ext cx="1051560" cy="0"/>
          </a:xfrm>
          <a:prstGeom prst="line">
            <a:avLst/>
          </a:prstGeom>
          <a:noFill/>
          <a:ln w="19050">
            <a:solidFill>
              <a:srgbClr val="1F408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36576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--- Replication  |  — gRPC calls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Communication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0233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gRPC Microservice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Protocol: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HTTP/2 + Protobuf binary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Format: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Binary serialization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Speed: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Faster encoding/decoding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Streaming: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Bidirectional streams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Contract: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Strongly typed .proto file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Best for: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Internal service-to-service calls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914400"/>
            <a:ext cx="402336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REST Monolith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481328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Protocol: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HTTP/1.1 + JSON text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Format: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Human-readable JSON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Speed: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Slower JSON parsing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Streaming: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Not supported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Contract: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Flexible, no schema required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Best for: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Public APIs, browser clients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Evaluation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0233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🖥  Hardware Environment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Machine: MacBook Pro (Apple Silicon)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RAM: 16 GB  |  OS: macOS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Docker Desktop (all containers local)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Python 3.9 benchmark scripts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914400"/>
            <a:ext cx="402336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Workload Specification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37160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Write: concurrent AddDrug requests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Read: concurrent ListDrugs requests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Concurrency: 10, 50, 100, 500, 1000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Metrics: Avg Latency (ms) + Throughput (req/s)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8503920" cy="9601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92608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 = T_response − T_request          </a:t>
            </a:r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Throughput = Total Requests / Total Time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" y="40690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gRPC: 6 nodes   |   REST Monolith: 2 containers   |   Both running simultaneously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Performance Results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1440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09160" y="91440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4297680"/>
            <a:ext cx="8503920" cy="59436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42976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At 1000 users: gRPC read latency 1023ms vs REST 5150ms — 5× better  |  gRPC write throughput 63% higher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Trade-off Analysis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3931920"/>
        </p:xfrm>
        <a:graphic>
          <a:graphicData uri="http://schemas.openxmlformats.org/drawingml/2006/table">
            <a:tbl>
              <a:tblPr/>
              <a:tblGrid>
                <a:gridCol w="2011680"/>
                <a:gridCol w="3246120"/>
                <a:gridCol w="3246120"/>
              </a:tblGrid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gRPC Microservice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Monolith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throughput, lower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Degrades sharply at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via load balancer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bottleneck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Tolerance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Redundant servers + DB replication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point of 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— multi-node 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— one container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— proto definitions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— standard 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 Tools — How Claude Helped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658368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8992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Architecture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280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Designed the 6-node system layout and Docker Compose configuration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37360"/>
            <a:ext cx="6583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37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78992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Proto File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20574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Generated all gRPC .proto definitions for 6 service methods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51460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14600"/>
            <a:ext cx="658368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14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🐛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78992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Debugging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28346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Diagnosed Dockerfile COPY path error and fixed build context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29184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291840"/>
            <a:ext cx="6583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91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78992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Benchmarking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36118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Generated concurrent Python benchmark and plotting scripts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06908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069080"/>
            <a:ext cx="658368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069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78992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Documentation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8992" y="43891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Wrote README, final report, and this presentation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Prompting Strategy: provide exact errors + architecture constraints → targeted, working solutions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38912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17043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6 functional requirements fully implemented and tested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438912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83794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6-node gRPC microservice architecture deployed with Docker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78024"/>
            <a:ext cx="438912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78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50545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gRPC delivers 5× lower latency and 63% higher throughput at scale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45536"/>
            <a:ext cx="438912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45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17296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Microservice design provides fault tolerance REST cannot match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438912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13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84048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AI tools (Claude) accelerated development at every stage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32104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720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Thank you!  |  Q&amp;A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Pharmacy Inventory Management System</dc:title>
  <dc:subject>PptxGenJS Presentation</dc:subject>
  <dc:creator>PptxGenJS</dc:creator>
  <cp:lastModifiedBy>PptxGenJS</cp:lastModifiedBy>
  <cp:revision>1</cp:revision>
  <dcterms:created xsi:type="dcterms:W3CDTF">2026-02-23T19:48:07Z</dcterms:created>
  <dcterms:modified xsi:type="dcterms:W3CDTF">2026-02-23T19:48:07Z</dcterms:modified>
</cp:coreProperties>
</file>